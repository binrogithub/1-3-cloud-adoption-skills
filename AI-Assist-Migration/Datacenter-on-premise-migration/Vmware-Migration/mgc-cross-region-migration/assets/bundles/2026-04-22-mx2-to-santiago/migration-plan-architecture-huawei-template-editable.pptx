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HUAWEI CLOUD MIGRATION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56032"/>
            <a:ext cx="2148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000B"/>
                </a:solidFill>
                <a:latin typeface="Microsoft YaHei"/>
              </a:rPr>
              <a:t>LOGO 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72333"/>
                </a:solidFill>
                <a:latin typeface="Microsoft YaHei"/>
              </a:rPr>
              <a:t>墨西哥城二 -&gt; 圣地亚哥 跨区域迁移方案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26B7A"/>
                </a:solidFill>
                <a:latin typeface="Microsoft YaHei"/>
              </a:rPr>
              <a:t>架构图 | 迁移路径 | 实施步骤 | 迁移总结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6984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10149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72333"/>
                </a:solidFill>
                <a:latin typeface="Microsoft YaHei"/>
              </a:rPr>
              <a:t>源Region: la-north-2 (Mexico City2)    目标Region: la-south-2 (Santiago)
源ECS: 4fb3d857-aa08-4b79-8810-760cab680418
目标ECS: 7f110bb2-3332-4ef8-a19b-9013746b76a8
任务ID: 5f044a0b-cf65-44b0-a816-9914c2b30c96    最终状态: MIGRATE_SUCCESS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26B7A"/>
                </a:solidFill>
                <a:latin typeface="Microsoft YaHei"/>
              </a:rPr>
              <a:t>Date: 2026-04-22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2333"/>
          </a:solidFill>
          <a:ln>
            <a:solidFill>
              <a:srgbClr val="17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8368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Huawei Cloud Migration Delivery - Internal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836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554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72333"/>
                </a:solidFill>
                <a:latin typeface="Microsoft YaHe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73152"/>
            <a:ext cx="22402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7232" y="1645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000B"/>
                </a:solidFill>
                <a:latin typeface="Microsoft YaHei"/>
              </a:rPr>
              <a:t>HUAWEI CLOUD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333"/>
                </a:solidFill>
                <a:latin typeface="Microsoft YaHei"/>
              </a:rP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106070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057400"/>
            <a:ext cx="411480" cy="411480"/>
          </a:xfrm>
          <a:prstGeom prst="ellipse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14884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1226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72333"/>
                </a:solidFill>
                <a:latin typeface="Microsoft YaHei"/>
              </a:rPr>
              <a:t>01  源/目的端架构与云服务信息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2971800"/>
            <a:ext cx="411480" cy="411480"/>
          </a:xfrm>
          <a:prstGeom prst="ellipse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06324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2666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72333"/>
                </a:solidFill>
                <a:latin typeface="Microsoft YaHei"/>
              </a:rPr>
              <a:t>02  迁移路径图</a:t>
            </a:r>
          </a:p>
        </p:txBody>
      </p:sp>
      <p:sp>
        <p:nvSpPr>
          <p:cNvPr id="15" name="Oval 14"/>
          <p:cNvSpPr/>
          <p:nvPr/>
        </p:nvSpPr>
        <p:spPr>
          <a:xfrm>
            <a:off x="1234440" y="3886200"/>
            <a:ext cx="411480" cy="411480"/>
          </a:xfrm>
          <a:prstGeom prst="ellipse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3977639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41063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72333"/>
                </a:solidFill>
                <a:latin typeface="Microsoft YaHei"/>
              </a:rPr>
              <a:t>03  迁移实施步骤</a:t>
            </a:r>
          </a:p>
        </p:txBody>
      </p:sp>
      <p:sp>
        <p:nvSpPr>
          <p:cNvPr id="18" name="Oval 17"/>
          <p:cNvSpPr/>
          <p:nvPr/>
        </p:nvSpPr>
        <p:spPr>
          <a:xfrm>
            <a:off x="1234440" y="4800600"/>
            <a:ext cx="411480" cy="411480"/>
          </a:xfrm>
          <a:prstGeom prst="ellipse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89204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5546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72333"/>
                </a:solidFill>
                <a:latin typeface="Microsoft YaHei"/>
              </a:rPr>
              <a:t>04  迁移总结与复用建议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2333"/>
          </a:solidFill>
          <a:ln>
            <a:solidFill>
              <a:srgbClr val="17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8368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Huawei Cloud Migration Delivery - Internal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836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554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72333"/>
                </a:solidFill>
                <a:latin typeface="Microsoft YaHei"/>
              </a:rPr>
              <a:t>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73152"/>
            <a:ext cx="22402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7232" y="1645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000B"/>
                </a:solidFill>
                <a:latin typeface="Microsoft YaHei"/>
              </a:rPr>
              <a:t>HUAWEI CLOUD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333"/>
                </a:solidFill>
                <a:latin typeface="Microsoft YaHei"/>
              </a:rPr>
              <a:t>1) 源/目的端架构与云服务信息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86400" cy="2286000"/>
          </a:xfrm>
          <a:prstGeom prst="roundRect">
            <a:avLst/>
          </a:prstGeom>
          <a:solidFill>
            <a:srgbClr val="E8F5E6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solidFill>
            <a:srgbClr val="5CA04F"/>
          </a:solidFill>
          <a:ln>
            <a:solidFill>
              <a:srgbClr val="5CA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5340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源端（la-north-2）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5266944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ECS: 4fb3d857-aa08-4b79-8810-760cab680418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SMS Source: dceb9146-c28f-4596-8c42-a55b068c31d5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Fixed IP: 192.168.0.170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EIP: 149.232.128.58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SG: 74593d3e-d063-4bad-9e50-34db9f92b85c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486400" cy="2286000"/>
          </a:xfrm>
          <a:prstGeom prst="roundRect">
            <a:avLst/>
          </a:prstGeom>
          <a:solidFill>
            <a:srgbClr val="E4EF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solidFill>
            <a:srgbClr val="3A7EBE"/>
          </a:solidFill>
          <a:ln>
            <a:solidFill>
              <a:srgbClr val="3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828800"/>
            <a:ext cx="5340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目的端（la-south-2）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194560"/>
            <a:ext cx="5266944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VPC: vpc-migration (10.250.0.0/16)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Subnet: 20db50f6-2131-43fb-a243-b7500dc7abc4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ECS: 7f110bb2-3332-4ef8-a19b-9013746b76a8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Fixed IP: 10.250.1.37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EIP: 119.8.149.199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SG: 620c0923-3211-42aa-b2b7-c4b66e914006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429768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412480"/>
              </a:tblGrid>
              <a:tr h="28738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云服务</a:t>
                      </a:r>
                    </a:p>
                  </a:txBody>
                  <a:tcPr>
                    <a:solidFill>
                      <a:srgbClr val="0054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本次迁移中的职责</a:t>
                      </a:r>
                    </a:p>
                  </a:txBody>
                  <a:tcPr>
                    <a:solidFill>
                      <a:srgbClr val="0054A0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鉴权与 source/target project_id 查询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SMS/MGC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创建 migproject、创建并启动迁移任务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源/目标云主机查询与目标机创建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VPC/子网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创建或复用 vpc-migration 与目标子网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EIP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目标ECS公网迁移与访问地址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源/目标双向互通规则下发与验证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2333"/>
          </a:solidFill>
          <a:ln>
            <a:solidFill>
              <a:srgbClr val="17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Huawei Cloud Migration Delivery - Internal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836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554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72333"/>
                </a:solidFill>
                <a:latin typeface="Microsoft YaHei"/>
              </a:rPr>
              <a:t>Migration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73152"/>
            <a:ext cx="22402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7232" y="1645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000B"/>
                </a:solidFill>
                <a:latin typeface="Microsoft YaHei"/>
              </a:rPr>
              <a:t>HUAWEI CLOUD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333"/>
                </a:solidFill>
                <a:latin typeface="Microsoft YaHei"/>
              </a:rPr>
              <a:t>2) 迁移路径图</a:t>
            </a:r>
          </a:p>
        </p:txBody>
      </p:sp>
      <p:sp>
        <p:nvSpPr>
          <p:cNvPr id="8" name="Chevron 7"/>
          <p:cNvSpPr/>
          <p:nvPr/>
        </p:nvSpPr>
        <p:spPr>
          <a:xfrm>
            <a:off x="548640" y="2286000"/>
            <a:ext cx="2103120" cy="1371600"/>
          </a:xfrm>
          <a:prstGeom prst="chevron">
            <a:avLst/>
          </a:prstGeom>
          <a:solidFill>
            <a:srgbClr val="ECF2FA"/>
          </a:solidFill>
          <a:ln>
            <a:solidFill>
              <a:srgbClr val="0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333"/>
                </a:solidFill>
                <a:latin typeface="Microsoft YaHei"/>
              </a:rPr>
              <a:t>预检查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0779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26B7A"/>
                </a:solidFill>
                <a:latin typeface="Microsoft YaHei"/>
              </a:rPr>
              <a:t>参数/SMS源</a:t>
            </a:r>
          </a:p>
        </p:txBody>
      </p:sp>
      <p:sp>
        <p:nvSpPr>
          <p:cNvPr id="11" name="Chevron 10"/>
          <p:cNvSpPr/>
          <p:nvPr/>
        </p:nvSpPr>
        <p:spPr>
          <a:xfrm>
            <a:off x="2834640" y="2286000"/>
            <a:ext cx="2103120" cy="1371600"/>
          </a:xfrm>
          <a:prstGeom prst="chevron">
            <a:avLst/>
          </a:prstGeom>
          <a:solidFill>
            <a:srgbClr val="ECF2FA"/>
          </a:solidFill>
          <a:ln>
            <a:solidFill>
              <a:srgbClr val="0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57860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333"/>
                </a:solidFill>
                <a:latin typeface="Microsoft YaHei"/>
              </a:rPr>
              <a:t>清理历史任务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0779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26B7A"/>
                </a:solidFill>
                <a:latin typeface="Microsoft YaHei"/>
              </a:rPr>
              <a:t>解除源机占用</a:t>
            </a:r>
          </a:p>
        </p:txBody>
      </p:sp>
      <p:sp>
        <p:nvSpPr>
          <p:cNvPr id="14" name="Chevron 13"/>
          <p:cNvSpPr/>
          <p:nvPr/>
        </p:nvSpPr>
        <p:spPr>
          <a:xfrm>
            <a:off x="5120640" y="2286000"/>
            <a:ext cx="2103120" cy="1371600"/>
          </a:xfrm>
          <a:prstGeom prst="chevron">
            <a:avLst/>
          </a:prstGeom>
          <a:solidFill>
            <a:srgbClr val="ECF2FA"/>
          </a:solidFill>
          <a:ln>
            <a:solidFill>
              <a:srgbClr val="0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57860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333"/>
                </a:solidFill>
                <a:latin typeface="Microsoft YaHei"/>
              </a:rPr>
              <a:t>创建目标资源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0779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26B7A"/>
                </a:solidFill>
                <a:latin typeface="Microsoft YaHei"/>
              </a:rPr>
              <a:t>VPC/ECS/EIP/SG</a:t>
            </a:r>
          </a:p>
        </p:txBody>
      </p:sp>
      <p:sp>
        <p:nvSpPr>
          <p:cNvPr id="17" name="Chevron 16"/>
          <p:cNvSpPr/>
          <p:nvPr/>
        </p:nvSpPr>
        <p:spPr>
          <a:xfrm>
            <a:off x="7406640" y="2286000"/>
            <a:ext cx="2103120" cy="1371600"/>
          </a:xfrm>
          <a:prstGeom prst="chevron">
            <a:avLst/>
          </a:prstGeom>
          <a:solidFill>
            <a:srgbClr val="ECF2FA"/>
          </a:solidFill>
          <a:ln>
            <a:solidFill>
              <a:srgbClr val="0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57860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333"/>
                </a:solidFill>
                <a:latin typeface="Microsoft YaHei"/>
              </a:rPr>
              <a:t>创建并启动任务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90779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26B7A"/>
                </a:solidFill>
                <a:latin typeface="Microsoft YaHei"/>
              </a:rPr>
              <a:t>SMS Task Start</a:t>
            </a:r>
          </a:p>
        </p:txBody>
      </p:sp>
      <p:sp>
        <p:nvSpPr>
          <p:cNvPr id="20" name="Chevron 19"/>
          <p:cNvSpPr/>
          <p:nvPr/>
        </p:nvSpPr>
        <p:spPr>
          <a:xfrm>
            <a:off x="9692640" y="2286000"/>
            <a:ext cx="2103120" cy="1371600"/>
          </a:xfrm>
          <a:prstGeom prst="chevron">
            <a:avLst/>
          </a:prstGeom>
          <a:solidFill>
            <a:srgbClr val="ECF2FA"/>
          </a:solidFill>
          <a:ln>
            <a:solidFill>
              <a:srgbClr val="0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257860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72333"/>
                </a:solidFill>
                <a:latin typeface="Microsoft YaHei"/>
              </a:rPr>
              <a:t>终态校验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90779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26B7A"/>
                </a:solidFill>
                <a:latin typeface="Microsoft YaHei"/>
              </a:rPr>
              <a:t>MIGRATE_SUCCESS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078992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07408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333"/>
                </a:solidFill>
                <a:latin typeface="Microsoft YaHei"/>
              </a:rPr>
              <a:t>控制路径: Terraform -&gt; scripts/mgc_migrate.py -&gt; IAM/SMS/ECS/VPC
数据路径: 源ECS(149.232.128.58/192.168.0.170) -&gt; 目标ECS(119.8.149.199/10.250.1.37)
迁移任务ID: 5f044a0b-cf65-44b0-a816-9914c2b30c96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2333"/>
          </a:solidFill>
          <a:ln>
            <a:solidFill>
              <a:srgbClr val="17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Huawei Cloud Migration Delivery - Internal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836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554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72333"/>
                </a:solidFill>
                <a:latin typeface="Microsoft YaHei"/>
              </a:rPr>
              <a:t>Execution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73152"/>
            <a:ext cx="22402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7232" y="1645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000B"/>
                </a:solidFill>
                <a:latin typeface="Microsoft YaHei"/>
              </a:rPr>
              <a:t>HUAWEI CLOUD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333"/>
                </a:solidFill>
                <a:latin typeface="Microsoft YaHei"/>
              </a:rPr>
              <a:t>3) 迁移实施步骤（SOP）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097280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104241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1) 配置 terraform.tfvars：AK/SK、源机ID、目标镜像、区域参数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2) 迁移前检查：源SMS注册、目标资源与配额可用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3) 清理历史源绑定任务（本次删除 1 条 MIGRATE_SUCCESS）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4) terraform init &amp;&amp; terraform apply -auto-approve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5) 若 No changes：terraform apply -replace=terraform_data.mgc_region_migration -auto-approve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6) 自动创建/复用 vpc-migration、目标ECS、EIP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7) 自动打通并校验源/目标安全组双向规则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8) 创建并启动 SMS 迁移任务，轮询至终态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72333"/>
                </a:solidFill>
                <a:latin typeface="Microsoft YaHei"/>
              </a:rPr>
              <a:t>9) 迁移后确认目标ECS ACTIVE、EIP可达、任务成功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2333"/>
          </a:solidFill>
          <a:ln>
            <a:solidFill>
              <a:srgbClr val="17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Huawei Cloud Migration Delivery - Internal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836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554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72333"/>
                </a:solidFill>
                <a:latin typeface="Microsoft YaHei"/>
              </a:rP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73152"/>
            <a:ext cx="22402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7232" y="16459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000B"/>
                </a:solidFill>
                <a:latin typeface="Microsoft YaHei"/>
              </a:rPr>
              <a:t>HUAWEI CLOUD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333"/>
                </a:solidFill>
                <a:latin typeface="Microsoft YaHei"/>
              </a:rPr>
              <a:t>4) 迁移总结与复用建议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94960" cy="4206240"/>
          </a:xfrm>
          <a:prstGeom prst="roundRect">
            <a:avLst/>
          </a:prstGeom>
          <a:solidFill>
            <a:srgbClr val="E8F5E6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94960" cy="365760"/>
          </a:xfrm>
          <a:prstGeom prst="rect">
            <a:avLst/>
          </a:prstGeom>
          <a:solidFill>
            <a:srgbClr val="5CA04F"/>
          </a:solidFill>
          <a:ln>
            <a:solidFill>
              <a:srgbClr val="5CA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1920240"/>
            <a:ext cx="52486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迁移结果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5175504" cy="3657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最终状态: MIGRATE_SUCCESS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任务ID: 5f044a0b-cf65-44b0-a816-9914c2b30c96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终态时间: 2026-04-22 07:28:21 +0800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目标ECS: ACTIVE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目标EIP: 119.8.149.199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安全组互通校验: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94960" cy="4206240"/>
          </a:xfrm>
          <a:prstGeom prst="roundRect">
            <a:avLst/>
          </a:prstGeom>
          <a:solidFill>
            <a:srgbClr val="E4EF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394960" cy="365760"/>
          </a:xfrm>
          <a:prstGeom prst="rect">
            <a:avLst/>
          </a:prstGeom>
          <a:solidFill>
            <a:srgbClr val="3A7EBE"/>
          </a:solidFill>
          <a:ln>
            <a:solidFill>
              <a:srgbClr val="3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20240"/>
            <a:ext cx="52486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复用建议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286000"/>
            <a:ext cx="5175504" cy="3657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1. 迁移前固定执行历史任务清理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2. 无变更重跑时使用 -replace 强制触发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3. progress 可能为空，以 state 终态为准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4. 固化流水线：预清理 -&gt; 执行 -&gt; 轮询 -&gt; 后验 -&gt; 打包</a:t>
            </a:r>
          </a:p>
          <a:p>
            <a:pPr/>
            <a:r>
              <a:rPr sz="1050" b="0">
                <a:solidFill>
                  <a:srgbClr val="172333"/>
                </a:solidFill>
                <a:latin typeface="Microsoft YaHei"/>
              </a:rPr>
              <a:t>5. 将本次bundle作为后续区域迁移模板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2333"/>
          </a:solidFill>
          <a:ln>
            <a:solidFill>
              <a:srgbClr val="17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8368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Huawei Cloud Migration Delivery - Internal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836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