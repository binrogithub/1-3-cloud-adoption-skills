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C3460"/>
                </a:solidFill>
                <a:latin typeface="Microsoft YaHei"/>
              </a:rPr>
              <a:t>墨西哥城二 -&gt; 圣地亚哥 跨区域迁移方案（可编辑版）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4546A"/>
                </a:solidFill>
                <a:latin typeface="Microsoft YaHei"/>
              </a:rPr>
              <a:t>基于 2026-04-22 实际迁移结果输出：架构图 + 迁移路径 + 步骤 + 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389120"/>
          </a:xfrm>
          <a:prstGeom prst="roundRect">
            <a:avLst/>
          </a:prstGeom>
          <a:solidFill>
            <a:srgbClr val="F2F2F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8755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F497D"/>
                </a:solidFill>
                <a:latin typeface="Microsoft YaHei"/>
              </a:rPr>
              <a:t>源端 Region: la-north-2 (Mexico City2)
目的端 Region: la-south-2 (Santiago)
源ECS: 4fb3d857-aa08-4b79-8810-760cab680418
目标ECS: 7f110bb2-3332-4ef8-a19b-9013746b76a8
迁移任务: 5f044a0b-cf65-44b0-a816-9914c2b30c96
终态: MIGRATE_SUCCESS (2026-04-22 07:28:21 +0800)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C3460"/>
                </a:solidFill>
                <a:latin typeface="Microsoft YaHei"/>
              </a:rPr>
              <a:t>1) 源/目的端架构与云服务信息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669280" cy="2194560"/>
          </a:xfrm>
          <a:prstGeom prst="roundRect">
            <a:avLst/>
          </a:prstGeom>
          <a:solidFill>
            <a:srgbClr val="E2EFDA"/>
          </a:solidFill>
          <a:ln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669280" cy="384048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源端（la-north-2）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45920"/>
            <a:ext cx="5449824" cy="1664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icrosoft YaHei"/>
              </a:rPr>
              <a:t>ECS ID: 4fb3d857-aa08-4b79-8810-760cab680418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Microsoft YaHei"/>
              </a:rPr>
              <a:t>SMS Source ID: dceb9146-c28f-4596-8c42-a55b068c31d5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Microsoft YaHei"/>
              </a:rPr>
              <a:t>Fixed IP: 192.168.0.170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Microsoft YaHei"/>
              </a:rPr>
              <a:t>EIP: 149.232.128.58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Microsoft YaHei"/>
              </a:rPr>
              <a:t>Security Group: 74593d3e-d063-4bad-9e50-34db9f92b85c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188720"/>
            <a:ext cx="5394960" cy="2194560"/>
          </a:xfrm>
          <a:prstGeom prst="roundRect">
            <a:avLst/>
          </a:prstGeom>
          <a:solidFill>
            <a:srgbClr val="DDEBF7"/>
          </a:solidFill>
          <a:ln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0" y="1188720"/>
            <a:ext cx="5394960" cy="384048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目的端（la-south-2）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9088" y="1645920"/>
            <a:ext cx="5175504" cy="1664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icrosoft YaHei"/>
              </a:rPr>
              <a:t>VPC: vpc-migration (10.250.0.0/16)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Microsoft YaHei"/>
              </a:rPr>
              <a:t>VPC ID: 8c31defc-3fd2-4c1d-9fa0-04f807e26689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Microsoft YaHei"/>
              </a:rPr>
              <a:t>Subnet ID: 20db50f6-2131-43fb-a243-b7500dc7abc4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Microsoft YaHei"/>
              </a:rPr>
              <a:t>目标ECS ID: 7f110bb2-3332-4ef8-a19b-9013746b76a8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Microsoft YaHei"/>
              </a:rPr>
              <a:t>Fixed IP: 10.250.1.37 / EIP: 119.8.149.199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657600"/>
          <a:ext cx="112471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321040"/>
              </a:tblGrid>
              <a:tr h="37882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云服务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本次作用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IAM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区域项目查询与鉴权</a:t>
                      </a:r>
                    </a:p>
                  </a:txBody>
                  <a:tcPr/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SMS/MGC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创建迁移项目与迁移任务并执行跨区域迁移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ECS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查询源机、创建目标ECS、任务执行承载</a:t>
                      </a:r>
                    </a:p>
                  </a:txBody>
                  <a:tcPr/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VPC/子网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创建/复用 vpc-migration 与子网资源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EIP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为目标ECS分配迁移/访问地址</a:t>
                      </a:r>
                    </a:p>
                  </a:txBody>
                  <a:tcPr/>
                </a:tc>
              </a:tr>
              <a:tr h="3788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Microsoft YaHei"/>
                        </a:rPr>
                        <a:t>源/目标双向放通，保障迁移链路可达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C3460"/>
                </a:solidFill>
                <a:latin typeface="Microsoft YaHei"/>
              </a:rPr>
              <a:t>2) 架构图（源端-控制面-目的端）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3566160" cy="5212080"/>
          </a:xfrm>
          <a:prstGeom prst="roundRect">
            <a:avLst/>
          </a:prstGeom>
          <a:solidFill>
            <a:srgbClr val="E2EFDA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F5423"/>
                </a:solidFill>
                <a:latin typeface="Microsoft YaHei"/>
              </a:rPr>
              <a:t>源端: la-north-2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28800"/>
            <a:ext cx="29260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icrosoft YaHei"/>
              </a:rPr>
              <a:t>ECS源主机
4fb3d857-aa08-4b79-8810-760cab680418
192.168.0.170 / 149.232.128.58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154680"/>
            <a:ext cx="29260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icrosoft YaHei"/>
              </a:rPr>
              <a:t>源安全组
74593d3e-d063-4bad-9e50-34db9f92b85c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97280"/>
            <a:ext cx="3566160" cy="5212080"/>
          </a:xfrm>
          <a:prstGeom prst="roundRect">
            <a:avLst/>
          </a:prstGeom>
          <a:solidFill>
            <a:srgbClr val="FFF2CC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2344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843C0C"/>
                </a:solidFill>
                <a:latin typeface="Microsoft YaHei"/>
              </a:rPr>
              <a:t>控制面（同账号）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783080"/>
            <a:ext cx="30175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icrosoft YaHei"/>
              </a:rPr>
              <a:t>Terraform
main.tf / tfvars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788920"/>
            <a:ext cx="30175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icrosoft YaHei"/>
              </a:rPr>
              <a:t>Python 自动化
mgc_migrate.py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3794760"/>
            <a:ext cx="30175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Microsoft YaHei"/>
              </a:rPr>
              <a:t>SMS/MGC
migproject: 7a545883-187a-458d-aea0-6e665d295e2e
task: 5f044a0b-cf65-44b0-a816-9914c2b30c96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097280"/>
            <a:ext cx="3566160" cy="5212080"/>
          </a:xfrm>
          <a:prstGeom prst="roundRect">
            <a:avLst/>
          </a:prstGeom>
          <a:solidFill>
            <a:srgbClr val="DDEB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2344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Microsoft YaHei"/>
              </a:rPr>
              <a:t>目的端: la-south-2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828800"/>
            <a:ext cx="29260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icrosoft YaHei"/>
              </a:rPr>
              <a:t>VPC vpc-migration / 10.250.0.0/16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2926080"/>
            <a:ext cx="29260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000000"/>
                </a:solidFill>
                <a:latin typeface="Microsoft YaHei"/>
              </a:rPr>
              <a:t>目标ECS
7f110bb2-3332-4ef8-a19b-9013746b76a8
10.250.1.37 / 119.8.149.199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4251960"/>
            <a:ext cx="29260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Microsoft YaHei"/>
              </a:rPr>
              <a:t>目标安全组
620c0923-3211-42aa-b2b7-c4b66e914006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886200" y="2148840"/>
            <a:ext cx="365760" cy="320040"/>
          </a:xfrm>
          <a:prstGeom prst="rightArrow">
            <a:avLst/>
          </a:prstGeom>
          <a:solidFill>
            <a:srgbClr val="7F7F7F"/>
          </a:solidFill>
          <a:ln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7863840" y="3063240"/>
            <a:ext cx="320040" cy="320040"/>
          </a:xfrm>
          <a:prstGeom prst="rightArrow">
            <a:avLst/>
          </a:prstGeom>
          <a:solidFill>
            <a:srgbClr val="7F7F7F"/>
          </a:solidFill>
          <a:ln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0" y="5577840"/>
            <a:ext cx="4297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Microsoft YaHei"/>
              </a:rPr>
              <a:t>数据迁移流: 源ECS -&gt; SMS任务 -&gt; 目标ECS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C3460"/>
                </a:solidFill>
                <a:latin typeface="Microsoft YaHei"/>
              </a:rPr>
              <a:t>3) 迁移路径图（执行链路）</a:t>
            </a:r>
          </a:p>
        </p:txBody>
      </p:sp>
      <p:sp>
        <p:nvSpPr>
          <p:cNvPr id="3" name="Chevron 2"/>
          <p:cNvSpPr/>
          <p:nvPr/>
        </p:nvSpPr>
        <p:spPr>
          <a:xfrm>
            <a:off x="502920" y="2103120"/>
            <a:ext cx="2240280" cy="1234440"/>
          </a:xfrm>
          <a:prstGeom prst="chevron">
            <a:avLst/>
          </a:prstGeom>
          <a:solidFill>
            <a:srgbClr val="E2EFDA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Microsoft YaHei"/>
              </a:rPr>
              <a:t>预检查
参数/SMS源</a:t>
            </a:r>
          </a:p>
        </p:txBody>
      </p:sp>
      <p:sp>
        <p:nvSpPr>
          <p:cNvPr id="4" name="Chevron 3"/>
          <p:cNvSpPr/>
          <p:nvPr/>
        </p:nvSpPr>
        <p:spPr>
          <a:xfrm>
            <a:off x="2743200" y="2103120"/>
            <a:ext cx="2240280" cy="1234440"/>
          </a:xfrm>
          <a:prstGeom prst="chevron">
            <a:avLst/>
          </a:prstGeom>
          <a:solidFill>
            <a:srgbClr val="FFF2C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Microsoft YaHei"/>
              </a:rPr>
              <a:t>清理历史
占用任务</a:t>
            </a:r>
          </a:p>
        </p:txBody>
      </p:sp>
      <p:sp>
        <p:nvSpPr>
          <p:cNvPr id="5" name="Chevron 4"/>
          <p:cNvSpPr/>
          <p:nvPr/>
        </p:nvSpPr>
        <p:spPr>
          <a:xfrm>
            <a:off x="4983480" y="2103120"/>
            <a:ext cx="2240280" cy="1234440"/>
          </a:xfrm>
          <a:prstGeom prst="chevron">
            <a:avLst/>
          </a:prstGeom>
          <a:solidFill>
            <a:srgbClr val="DDEBF7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Microsoft YaHei"/>
              </a:rPr>
              <a:t>创建目标
VPC/ECS/EIP</a:t>
            </a:r>
          </a:p>
        </p:txBody>
      </p:sp>
      <p:sp>
        <p:nvSpPr>
          <p:cNvPr id="6" name="Chevron 5"/>
          <p:cNvSpPr/>
          <p:nvPr/>
        </p:nvSpPr>
        <p:spPr>
          <a:xfrm>
            <a:off x="7223760" y="2103120"/>
            <a:ext cx="2240280" cy="1234440"/>
          </a:xfrm>
          <a:prstGeom prst="chevron">
            <a:avLst/>
          </a:prstGeom>
          <a:solidFill>
            <a:srgbClr val="F4CCC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Microsoft YaHei"/>
              </a:rPr>
              <a:t>创建并启动
SMS任务</a:t>
            </a:r>
          </a:p>
        </p:txBody>
      </p:sp>
      <p:sp>
        <p:nvSpPr>
          <p:cNvPr id="7" name="Chevron 6"/>
          <p:cNvSpPr/>
          <p:nvPr/>
        </p:nvSpPr>
        <p:spPr>
          <a:xfrm>
            <a:off x="9464040" y="2103120"/>
            <a:ext cx="2240280" cy="1234440"/>
          </a:xfrm>
          <a:prstGeom prst="chevron">
            <a:avLst/>
          </a:prstGeom>
          <a:solidFill>
            <a:srgbClr val="D9D9D9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Microsoft YaHei"/>
              </a:rPr>
              <a:t>轮询到终态
MIGRATE_SUCCESS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10789920" cy="1554480"/>
          </a:xfrm>
          <a:prstGeom prst="roundRect">
            <a:avLst/>
          </a:prstGeom>
          <a:solidFill>
            <a:srgbClr val="F2F2F2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0">
                <a:solidFill>
                  <a:srgbClr val="44546A"/>
                </a:solidFill>
                <a:latin typeface="Microsoft YaHei"/>
              </a:rPr>
              <a:t>控制路径: Terraform -&gt; mgc_migrate.py -&gt; IAM/SMS/ECS/VPC
数据路径: 源端(149.232.128.58 / 192.168.0.170) -&gt; 目标端(119.8.149.199 / 10.250.1.37)
安全策略: 源/目标安全组双向放通，迁移后校验全部通过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C3460"/>
                </a:solidFill>
                <a:latin typeface="Microsoft YaHei"/>
              </a:rPr>
              <a:t>4) 迁移步骤（标准执行SOP）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42416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373737"/>
                </a:solidFill>
                <a:latin typeface="Microsoft YaHei"/>
              </a:rPr>
              <a:t>1. 配置 terraform.tfvars（AK/SK、源机ID、目标镜像、区域参数）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3737"/>
                </a:solidFill>
                <a:latin typeface="Microsoft YaHei"/>
              </a:rPr>
              <a:t>2. 迁移前检查：SMS源可见、目标资源可用、配额可用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3737"/>
                </a:solidFill>
                <a:latin typeface="Microsoft YaHei"/>
              </a:rPr>
              <a:t>3. 删除历史占用任务（本次删除 1 条 MIGRATE_SUCCESS 历史任务）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3737"/>
                </a:solidFill>
                <a:latin typeface="Microsoft YaHei"/>
              </a:rPr>
              <a:t>4. 执行 terraform init &amp;&amp; terraform apply -auto-approve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3737"/>
                </a:solidFill>
                <a:latin typeface="Microsoft YaHei"/>
              </a:rPr>
              <a:t>5. 若显示 No changes，执行 -replace 强制触发本次迁移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3737"/>
                </a:solidFill>
                <a:latin typeface="Microsoft YaHei"/>
              </a:rPr>
              <a:t>6. 自动创建/复用 vpc-migration、子网、目标ECS和EIP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3737"/>
                </a:solidFill>
                <a:latin typeface="Microsoft YaHei"/>
              </a:rPr>
              <a:t>7. 自动补齐源/目标安全组双向规则并校验连通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3737"/>
                </a:solidFill>
                <a:latin typeface="Microsoft YaHei"/>
              </a:rPr>
              <a:t>8. 创建并启动 SMS 迁移任务，持续轮询任务状态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3737"/>
                </a:solidFill>
                <a:latin typeface="Microsoft YaHei"/>
              </a:rPr>
              <a:t>9. 终态校验：MIGRATE_SUCCESS，目标ECS ACTIVE，网络可达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C3460"/>
                </a:solidFill>
                <a:latin typeface="Microsoft YaHei"/>
              </a:rPr>
              <a:t>5) 迁移总结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5486400" cy="4846320"/>
          </a:xfrm>
          <a:prstGeom prst="roundRect">
            <a:avLst/>
          </a:prstGeom>
          <a:solidFill>
            <a:srgbClr val="E2EFDA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500" b="0">
                <a:solidFill>
                  <a:srgbClr val="1F497D"/>
                </a:solidFill>
                <a:latin typeface="Microsoft YaHei"/>
              </a:rPr>
              <a:t>执行结果
- 最终状态: MIGRATE_SUCCESS
- 任务ID: 5f044a0b-cf65-44b0-a816-9914c2b30c96
- 终态时间: 2026-04-22 07:28:21 +0800
- 目标ECS状态: ACTIVE
- 目标EIP: 119.8.149.199
- SG互通校验: PASS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5080" y="1371600"/>
            <a:ext cx="5212080" cy="4846320"/>
          </a:xfrm>
          <a:prstGeom prst="roundRect">
            <a:avLst/>
          </a:prstGeom>
          <a:solidFill>
            <a:srgbClr val="DDEB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0">
                <a:solidFill>
                  <a:srgbClr val="1F497D"/>
                </a:solidFill>
                <a:latin typeface="Microsoft YaHei"/>
              </a:rPr>
              <a:t>经验与建议
- 迁移前先清理历史源绑定任务，减少 SMS.7605 风险
- terraform 无变更时，使用 -replace 强制执行
- progress 可能长期为 null，需以 state 终态为准
- 固化流程：预清理 -&gt; 执行 -&gt; 终态轮询 -&gt; 后置校验 -&gt; 归档打包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